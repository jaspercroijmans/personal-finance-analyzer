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83268" autoAdjust="0"/>
  </p:normalViewPr>
  <p:slideViewPr>
    <p:cSldViewPr snapToGrid="0">
      <p:cViewPr varScale="1">
        <p:scale>
          <a:sx n="68" d="100"/>
          <a:sy n="68" d="100"/>
        </p:scale>
        <p:origin x="12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per croijmans" userId="f86dc323274ef115" providerId="LiveId" clId="{6C9886B6-BF27-4343-B6DC-256FC21F34CE}"/>
    <pc:docChg chg="undo custSel addSld modSld">
      <pc:chgData name="Jasper croijmans" userId="f86dc323274ef115" providerId="LiveId" clId="{6C9886B6-BF27-4343-B6DC-256FC21F34CE}" dt="2026-01-15T12:07:22.464" v="1303" actId="20577"/>
      <pc:docMkLst>
        <pc:docMk/>
      </pc:docMkLst>
      <pc:sldChg chg="modSp mod">
        <pc:chgData name="Jasper croijmans" userId="f86dc323274ef115" providerId="LiveId" clId="{6C9886B6-BF27-4343-B6DC-256FC21F34CE}" dt="2026-01-15T12:07:22.464" v="1303" actId="20577"/>
        <pc:sldMkLst>
          <pc:docMk/>
          <pc:sldMk cId="498332765" sldId="257"/>
        </pc:sldMkLst>
        <pc:spChg chg="mod">
          <ac:chgData name="Jasper croijmans" userId="f86dc323274ef115" providerId="LiveId" clId="{6C9886B6-BF27-4343-B6DC-256FC21F34CE}" dt="2026-01-15T12:07:22.464" v="1303" actId="20577"/>
          <ac:spMkLst>
            <pc:docMk/>
            <pc:sldMk cId="498332765" sldId="257"/>
            <ac:spMk id="2" creationId="{2DB97176-AC49-B79D-F055-3E4E5D07315C}"/>
          </ac:spMkLst>
        </pc:spChg>
      </pc:sldChg>
      <pc:sldChg chg="modSp mod">
        <pc:chgData name="Jasper croijmans" userId="f86dc323274ef115" providerId="LiveId" clId="{6C9886B6-BF27-4343-B6DC-256FC21F34CE}" dt="2026-01-13T14:16:01.718" v="1136" actId="6549"/>
        <pc:sldMkLst>
          <pc:docMk/>
          <pc:sldMk cId="2123390671" sldId="258"/>
        </pc:sldMkLst>
        <pc:spChg chg="mod">
          <ac:chgData name="Jasper croijmans" userId="f86dc323274ef115" providerId="LiveId" clId="{6C9886B6-BF27-4343-B6DC-256FC21F34CE}" dt="2026-01-13T14:16:01.718" v="1136" actId="6549"/>
          <ac:spMkLst>
            <pc:docMk/>
            <pc:sldMk cId="2123390671" sldId="258"/>
            <ac:spMk id="4" creationId="{4FB25C94-E687-AC17-3887-E3630629E30C}"/>
          </ac:spMkLst>
        </pc:spChg>
      </pc:sldChg>
      <pc:sldChg chg="addSp delSp modSp mod">
        <pc:chgData name="Jasper croijmans" userId="f86dc323274ef115" providerId="LiveId" clId="{6C9886B6-BF27-4343-B6DC-256FC21F34CE}" dt="2026-01-12T12:48:15.087" v="727" actId="20577"/>
        <pc:sldMkLst>
          <pc:docMk/>
          <pc:sldMk cId="3130542668" sldId="259"/>
        </pc:sldMkLst>
        <pc:spChg chg="mod">
          <ac:chgData name="Jasper croijmans" userId="f86dc323274ef115" providerId="LiveId" clId="{6C9886B6-BF27-4343-B6DC-256FC21F34CE}" dt="2026-01-12T12:48:15.087" v="727" actId="20577"/>
          <ac:spMkLst>
            <pc:docMk/>
            <pc:sldMk cId="3130542668" sldId="259"/>
            <ac:spMk id="4" creationId="{17C9ECEF-0A35-305F-7C04-71A915591B36}"/>
          </ac:spMkLst>
        </pc:spChg>
      </pc:sldChg>
      <pc:sldChg chg="addSp modSp new mod">
        <pc:chgData name="Jasper croijmans" userId="f86dc323274ef115" providerId="LiveId" clId="{6C9886B6-BF27-4343-B6DC-256FC21F34CE}" dt="2026-01-12T13:00:47.446" v="1111" actId="20577"/>
        <pc:sldMkLst>
          <pc:docMk/>
          <pc:sldMk cId="2699811895" sldId="261"/>
        </pc:sldMkLst>
        <pc:spChg chg="mod">
          <ac:chgData name="Jasper croijmans" userId="f86dc323274ef115" providerId="LiveId" clId="{6C9886B6-BF27-4343-B6DC-256FC21F34CE}" dt="2026-01-12T12:48:03.321" v="725" actId="20577"/>
          <ac:spMkLst>
            <pc:docMk/>
            <pc:sldMk cId="2699811895" sldId="261"/>
            <ac:spMk id="2" creationId="{546F54CD-9153-FB0D-D8B7-378F29E0E05D}"/>
          </ac:spMkLst>
        </pc:spChg>
        <pc:spChg chg="mod">
          <ac:chgData name="Jasper croijmans" userId="f86dc323274ef115" providerId="LiveId" clId="{6C9886B6-BF27-4343-B6DC-256FC21F34CE}" dt="2026-01-12T12:59:24.584" v="1096" actId="20577"/>
          <ac:spMkLst>
            <pc:docMk/>
            <pc:sldMk cId="2699811895" sldId="261"/>
            <ac:spMk id="3" creationId="{433C2EBB-9C9C-7C93-7661-C9C0DE1509F8}"/>
          </ac:spMkLst>
        </pc:spChg>
        <pc:graphicFrameChg chg="add mod modGraphic">
          <ac:chgData name="Jasper croijmans" userId="f86dc323274ef115" providerId="LiveId" clId="{6C9886B6-BF27-4343-B6DC-256FC21F34CE}" dt="2026-01-12T13:00:47.446" v="1111" actId="20577"/>
          <ac:graphicFrameMkLst>
            <pc:docMk/>
            <pc:sldMk cId="2699811895" sldId="261"/>
            <ac:graphicFrameMk id="4" creationId="{D79B46F8-860A-57F5-E960-FA4885911392}"/>
          </ac:graphicFrameMkLst>
        </pc:graphicFrameChg>
      </pc:sldChg>
      <pc:sldChg chg="addSp modSp new mod">
        <pc:chgData name="Jasper croijmans" userId="f86dc323274ef115" providerId="LiveId" clId="{6C9886B6-BF27-4343-B6DC-256FC21F34CE}" dt="2026-01-13T14:23:43.827" v="1299" actId="114"/>
        <pc:sldMkLst>
          <pc:docMk/>
          <pc:sldMk cId="3799357166" sldId="262"/>
        </pc:sldMkLst>
        <pc:spChg chg="mod">
          <ac:chgData name="Jasper croijmans" userId="f86dc323274ef115" providerId="LiveId" clId="{6C9886B6-BF27-4343-B6DC-256FC21F34CE}" dt="2026-01-13T14:14:37.190" v="1119" actId="20577"/>
          <ac:spMkLst>
            <pc:docMk/>
            <pc:sldMk cId="3799357166" sldId="262"/>
            <ac:spMk id="2" creationId="{021B6A5F-56CE-AC64-980E-8CACF1E28D57}"/>
          </ac:spMkLst>
        </pc:spChg>
        <pc:spChg chg="mod">
          <ac:chgData name="Jasper croijmans" userId="f86dc323274ef115" providerId="LiveId" clId="{6C9886B6-BF27-4343-B6DC-256FC21F34CE}" dt="2026-01-13T14:20:20.728" v="1244" actId="14100"/>
          <ac:spMkLst>
            <pc:docMk/>
            <pc:sldMk cId="3799357166" sldId="262"/>
            <ac:spMk id="3" creationId="{93BB0054-1054-9335-59CF-3F64F8D4FCDC}"/>
          </ac:spMkLst>
        </pc:spChg>
        <pc:spChg chg="add mod">
          <ac:chgData name="Jasper croijmans" userId="f86dc323274ef115" providerId="LiveId" clId="{6C9886B6-BF27-4343-B6DC-256FC21F34CE}" dt="2026-01-13T14:21:42.082" v="1257" actId="1076"/>
          <ac:spMkLst>
            <pc:docMk/>
            <pc:sldMk cId="3799357166" sldId="262"/>
            <ac:spMk id="4" creationId="{748D82EB-F253-CC9B-7EDE-C97C41B9F477}"/>
          </ac:spMkLst>
        </pc:spChg>
        <pc:spChg chg="add mod">
          <ac:chgData name="Jasper croijmans" userId="f86dc323274ef115" providerId="LiveId" clId="{6C9886B6-BF27-4343-B6DC-256FC21F34CE}" dt="2026-01-13T14:23:43.827" v="1299" actId="114"/>
          <ac:spMkLst>
            <pc:docMk/>
            <pc:sldMk cId="3799357166" sldId="262"/>
            <ac:spMk id="5" creationId="{16653702-9EA8-C6AB-D770-B114DB647FD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4E3FCE-C998-418F-8335-0DE1AB8CC004}" type="datetimeFigureOut">
              <a:rPr lang="nl-NL" smtClean="0"/>
              <a:t>15-1-2026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BA24E3-B045-4E94-8B04-327D511E340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5779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 performed extensive </a:t>
            </a:r>
            <a:r>
              <a:rPr lang="en-US" b="1" dirty="0"/>
              <a:t>feature engineering</a:t>
            </a:r>
            <a:r>
              <a:rPr lang="en-US" dirty="0"/>
              <a:t>, transforming the basic 4 columns from the bank CSV into over 30 useful features. For example, from a simple date, I extracted day of week, weekend indicator, quarter, and more. This rich feature set enables the machine learning models to identify patterns and make accurate predictions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72% accuracy</a:t>
            </a:r>
            <a:r>
              <a:rPr lang="en-US" dirty="0"/>
              <a:t> refers specifically to the ML model's performance on transactions that don't have obvious keywords. However, in practice:</a:t>
            </a:r>
          </a:p>
          <a:p>
            <a:r>
              <a:rPr lang="en-US" dirty="0"/>
              <a:t>Most transactions (~80-90%) are categorized via </a:t>
            </a:r>
            <a:r>
              <a:rPr lang="en-US" b="1" dirty="0"/>
              <a:t>keywords</a:t>
            </a:r>
            <a:r>
              <a:rPr lang="en-US" dirty="0"/>
              <a:t> which are essentially 100% accurate</a:t>
            </a:r>
          </a:p>
          <a:p>
            <a:r>
              <a:rPr lang="en-US" dirty="0"/>
              <a:t>The remaining transactions use the </a:t>
            </a:r>
            <a:r>
              <a:rPr lang="en-US" b="1" dirty="0"/>
              <a:t>ML model</a:t>
            </a:r>
            <a:r>
              <a:rPr lang="en-US" dirty="0"/>
              <a:t> with 72% accuracy and </a:t>
            </a:r>
            <a:r>
              <a:rPr lang="en-US" b="1" dirty="0"/>
              <a:t>82.6% confidence scores</a:t>
            </a:r>
            <a:endParaRPr lang="en-US" dirty="0"/>
          </a:p>
          <a:p>
            <a:r>
              <a:rPr lang="en-US" dirty="0"/>
              <a:t>For the 28% that might be miscategorized:</a:t>
            </a:r>
          </a:p>
          <a:p>
            <a:r>
              <a:rPr lang="en-US" dirty="0"/>
              <a:t>The system provides </a:t>
            </a:r>
            <a:r>
              <a:rPr lang="en-US" b="1" dirty="0"/>
              <a:t>confidence scores</a:t>
            </a:r>
            <a:r>
              <a:rPr lang="en-US" dirty="0"/>
              <a:t> - low confidence flags can be reviewed</a:t>
            </a:r>
          </a:p>
          <a:p>
            <a:r>
              <a:rPr lang="en-US" dirty="0"/>
              <a:t>Users can </a:t>
            </a:r>
            <a:r>
              <a:rPr lang="en-US" b="1" dirty="0"/>
              <a:t>manually correct</a:t>
            </a:r>
            <a:r>
              <a:rPr lang="en-US" dirty="0"/>
              <a:t> categories, which improves the model over time</a:t>
            </a:r>
          </a:p>
          <a:p>
            <a:r>
              <a:rPr lang="en-US"/>
              <a:t>The </a:t>
            </a:r>
            <a:r>
              <a:rPr lang="en-US" b="1"/>
              <a:t>anomaly detection</a:t>
            </a:r>
            <a:r>
              <a:rPr lang="en-US"/>
              <a:t> system helps catch unusual categorizations</a:t>
            </a:r>
          </a:p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BA24E3-B045-4E94-8B04-327D511E340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0671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BC55-5864-427B-84CF-6441AA82B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745" y="1205037"/>
            <a:ext cx="7744993" cy="2541336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52BDB-18E0-4991-A6F2-7AD542015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745" y="3949332"/>
            <a:ext cx="7744993" cy="2006735"/>
          </a:xfrm>
        </p:spPr>
        <p:txBody>
          <a:bodyPr>
            <a:normAutofit/>
          </a:bodyPr>
          <a:lstStyle>
            <a:lvl1pPr marL="0" indent="0" algn="l">
              <a:buNone/>
              <a:defRPr sz="20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0ABC6-907E-47DE-8E40-61F2DD1B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B158-6097-43A1-90B6-406F9367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E077-FF20-4DD9-92B5-EE1C4D615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9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1C13-CF9D-4E82-A5B4-91008DCD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06FD2-89E8-4415-ADF7-22F4A4C25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CBBFF-8889-497F-B4CA-A031E8DD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DAF-985B-4BB4-ADA9-02EA979F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0DBC-42B5-46AB-B36A-B39128E6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7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B6E7-01C8-4375-B7C7-596CD119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83229"/>
            <a:ext cx="8214179" cy="330313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1675-8F3E-47CC-9573-D853C506D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295900"/>
            <a:ext cx="8214179" cy="7937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19F49-690E-49EC-BD41-75A18C9E3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C9E70-1401-468E-97DE-4255CA222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BE14C-9127-4582-A006-2AEA93AF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7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4DF9-FA60-4E7B-BDE8-C0F9AF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F1133-890E-4E96-AEDD-0F921E26F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6745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763B4-4987-4303-9640-54B67DD75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7174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4AAD8-D444-410E-98EC-47076908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2F01E-6867-4604-8B58-F65BCC82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43D87-0EC8-43C7-9D1B-46DB5212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9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05AE-70FD-4CEE-BDFB-D5C0A3D3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5" y="960120"/>
            <a:ext cx="9196928" cy="10607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091E2-4532-4D16-827E-4DB0688F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7153" y="2062842"/>
            <a:ext cx="4445899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2B53BE-9EDA-4D07-A042-0D101FAB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6745" y="2882837"/>
            <a:ext cx="4446642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FDFC1-7510-4F8E-A831-ABA33D977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5280" y="2062842"/>
            <a:ext cx="4467794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2A42F0-9A48-4946-8BA8-394CBF01A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868" y="2882837"/>
            <a:ext cx="4468541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0FC563-D319-494F-AA63-0BDF1D25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2F4FE-433A-42F6-8A73-AD843352B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75352-FC7F-4BA8-940F-2F920C280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1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FB5-4B13-4412-9F42-62450D6A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C87ECA-0E5D-4DD2-B664-DF351875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E2406B-A925-466A-AF79-D0A4E0EA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1B050-D381-4E1A-88DD-361F0EE9D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7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BF592-6A15-4999-ACFA-A535A11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19EFC1-AD45-4610-8FC6-2058F55E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DF506-CFF9-4BD2-8D76-33779277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4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7674-EAFF-4CAE-A685-8AEA617D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94014"/>
            <a:ext cx="3932237" cy="14369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3A185-E15D-46FD-A4FB-709A8B5D0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94014"/>
            <a:ext cx="6172200" cy="47670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86F7-5F48-40D6-B4E3-1347EA21B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2"/>
            <a:ext cx="3932237" cy="3250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FC41-0A32-438D-9A47-F932AB49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0F85D-CB6B-48E8-B56F-81472CE9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E120E-E239-4B93-AC67-210D23BD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F02C-5A08-45D4-AFE1-8EF0E6DE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65120"/>
            <a:ext cx="3932237" cy="146580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EF863-20E6-4CF9-A179-0A2A52E5F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CFB1A-5B7E-45DA-9713-0CD8E3121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4"/>
            <a:ext cx="3932237" cy="32509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FD67F-901E-4423-A48F-41F00ECA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04982-0749-4F34-A4DB-DDC12BD4B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38447-AEAF-40D9-B3D3-94404C14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15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71ABCB-C306-49F0-8D5D-0B890583C1CE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4A67F94-2250-4B3A-8424-1BC0A0BCB3FF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FB942D8-95BE-4CFD-BFCC-26209EC192CE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DF6499A-D398-4CBC-AA22-4277539430FC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91493C-6480-4A3F-8836-1727CBA3C849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46BFEE-D3D9-4B18-BA88-49F7C7D26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186" y="959587"/>
            <a:ext cx="9076329" cy="10642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A5BD3-1A63-4F94-ADFA-5CA2A414D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148186" y="2248257"/>
            <a:ext cx="9076329" cy="365015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1888E-6FA1-446E-A77C-7D26923F6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313F-58CA-4397-A3B4-71B068D1E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C6AB3-89E2-4B6A-A5F3-3FB781C1A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C2869-B8E0-44C7-801E-BA0C2C1B5E82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A7CEB8F-94FA-4A87-AA80-066173AA5C5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4F9817E-A26F-4D7B-82A1-FA647EE4C86F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E734839-B51C-4112-A4D8-DDFCB7F84A6F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1DFF651-C17F-4B2C-A962-32FA4958BCFA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B263D-CDF8-431B-A5D1-9687649138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31030" y="866253"/>
            <a:ext cx="2222769" cy="531071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B6B9BE-E660-4F3A-ABA1-86667DC13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66253"/>
            <a:ext cx="8164286" cy="531071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82700-F509-4302-AE0E-6CC56401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3BD63-5B0C-4FB3-8434-8EA1A84F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3E9EB-019B-4F03-8147-D6CBA6B1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206359A-F1E3-49EE-BBC2-40888C4A3628}"/>
              </a:ext>
            </a:extLst>
          </p:cNvPr>
          <p:cNvGrpSpPr/>
          <p:nvPr/>
        </p:nvGrpSpPr>
        <p:grpSpPr>
          <a:xfrm>
            <a:off x="9265700" y="2026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ED90C42-6A0F-48E8-BF96-7D3E2A395EC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DA0863A-55F7-4EB0-9451-F3EE4D65DBDB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FE7CFE2-40F6-44B2-8AAD-0C384EEFCF7E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F0D6A17-AA80-4608-8660-8D1587A17704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1B74D-DF90-4993-88AE-4D05C91F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4" y="959587"/>
            <a:ext cx="9076329" cy="1064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3DE9-A495-4E75-819D-E0B2E5505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744" y="2248257"/>
            <a:ext cx="9076329" cy="365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430AC-DB07-423B-A52A-0065639AF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66975" y="6356350"/>
            <a:ext cx="2960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11008460-8B2F-4AAA-A4E2-10730069204C}" type="datetimeFigureOut">
              <a:rPr lang="en-US" smtClean="0"/>
              <a:pPr/>
              <a:t>1/15/2026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FAFC9-FA18-4C55-8C92-B17603CAE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6745" y="501128"/>
            <a:ext cx="33113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5A493-61FB-4764-90B6-8CC218A7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9498" y="6356350"/>
            <a:ext cx="51547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0946259B-8396-46CD-AD42-FDEDA89DA278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1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150000"/>
        <a:buFont typeface="Goudy Old Style" panose="02020502050305020303" pitchFamily="18" charset="0"/>
        <a:buChar char="∙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sperCroijmans/personal-finance-analyz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3D7AAEFC-156E-1144-8D57-FBE2CD3B6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hat is a Certified Financial Planner and do you need one? - Personal  Finance 101 Blog">
            <a:extLst>
              <a:ext uri="{FF2B5EF4-FFF2-40B4-BE49-F238E27FC236}">
                <a16:creationId xmlns:a16="http://schemas.microsoft.com/office/drawing/2014/main" id="{A416C1DB-4100-FA4E-5B11-D48C96583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" y="-983"/>
            <a:ext cx="12191979" cy="6857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4AF0997A-7C0F-4AD2-BA90-5FE341A17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7594" y="805231"/>
            <a:ext cx="3876811" cy="5245563"/>
          </a:xfrm>
          <a:custGeom>
            <a:avLst/>
            <a:gdLst>
              <a:gd name="connsiteX0" fmla="*/ 1941583 w 3876811"/>
              <a:gd name="connsiteY0" fmla="*/ 0 h 5245563"/>
              <a:gd name="connsiteX1" fmla="*/ 2111641 w 3876811"/>
              <a:gd name="connsiteY1" fmla="*/ 149097 h 5245563"/>
              <a:gd name="connsiteX2" fmla="*/ 3370493 w 3876811"/>
              <a:gd name="connsiteY2" fmla="*/ 774451 h 5245563"/>
              <a:gd name="connsiteX3" fmla="*/ 3876811 w 3876811"/>
              <a:gd name="connsiteY3" fmla="*/ 1854684 h 5245563"/>
              <a:gd name="connsiteX4" fmla="*/ 3876811 w 3876811"/>
              <a:gd name="connsiteY4" fmla="*/ 2019920 h 5245563"/>
              <a:gd name="connsiteX5" fmla="*/ 3876811 w 3876811"/>
              <a:gd name="connsiteY5" fmla="*/ 2491569 h 5245563"/>
              <a:gd name="connsiteX6" fmla="*/ 3876811 w 3876811"/>
              <a:gd name="connsiteY6" fmla="*/ 2753995 h 5245563"/>
              <a:gd name="connsiteX7" fmla="*/ 3876811 w 3876811"/>
              <a:gd name="connsiteY7" fmla="*/ 3115353 h 5245563"/>
              <a:gd name="connsiteX8" fmla="*/ 3876811 w 3876811"/>
              <a:gd name="connsiteY8" fmla="*/ 3390879 h 5245563"/>
              <a:gd name="connsiteX9" fmla="*/ 3370493 w 3876811"/>
              <a:gd name="connsiteY9" fmla="*/ 4471114 h 5245563"/>
              <a:gd name="connsiteX10" fmla="*/ 2111639 w 3876811"/>
              <a:gd name="connsiteY10" fmla="*/ 5096465 h 5245563"/>
              <a:gd name="connsiteX11" fmla="*/ 1935228 w 3876811"/>
              <a:gd name="connsiteY11" fmla="*/ 5245563 h 5245563"/>
              <a:gd name="connsiteX12" fmla="*/ 1765171 w 3876811"/>
              <a:gd name="connsiteY12" fmla="*/ 5096465 h 5245563"/>
              <a:gd name="connsiteX13" fmla="*/ 506317 w 3876811"/>
              <a:gd name="connsiteY13" fmla="*/ 4471114 h 5245563"/>
              <a:gd name="connsiteX14" fmla="*/ 0 w 3876811"/>
              <a:gd name="connsiteY14" fmla="*/ 3390879 h 5245563"/>
              <a:gd name="connsiteX15" fmla="*/ 0 w 3876811"/>
              <a:gd name="connsiteY15" fmla="*/ 3115353 h 5245563"/>
              <a:gd name="connsiteX16" fmla="*/ 0 w 3876811"/>
              <a:gd name="connsiteY16" fmla="*/ 2753995 h 5245563"/>
              <a:gd name="connsiteX17" fmla="*/ 0 w 3876811"/>
              <a:gd name="connsiteY17" fmla="*/ 2491569 h 5245563"/>
              <a:gd name="connsiteX18" fmla="*/ 0 w 3876811"/>
              <a:gd name="connsiteY18" fmla="*/ 2019920 h 5245563"/>
              <a:gd name="connsiteX19" fmla="*/ 0 w 3876811"/>
              <a:gd name="connsiteY19" fmla="*/ 1854684 h 5245563"/>
              <a:gd name="connsiteX20" fmla="*/ 506318 w 3876811"/>
              <a:gd name="connsiteY20" fmla="*/ 774451 h 5245563"/>
              <a:gd name="connsiteX21" fmla="*/ 1765173 w 3876811"/>
              <a:gd name="connsiteY21" fmla="*/ 149097 h 5245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76811" h="5245563">
                <a:moveTo>
                  <a:pt x="1941583" y="0"/>
                </a:moveTo>
                <a:lnTo>
                  <a:pt x="2111641" y="149097"/>
                </a:lnTo>
                <a:cubicBezTo>
                  <a:pt x="2533315" y="474958"/>
                  <a:pt x="3008487" y="564716"/>
                  <a:pt x="3370493" y="774451"/>
                </a:cubicBezTo>
                <a:cubicBezTo>
                  <a:pt x="3718590" y="1017851"/>
                  <a:pt x="3876811" y="1296993"/>
                  <a:pt x="3876811" y="1854684"/>
                </a:cubicBezTo>
                <a:lnTo>
                  <a:pt x="3876811" y="2019920"/>
                </a:lnTo>
                <a:lnTo>
                  <a:pt x="3876811" y="2491569"/>
                </a:lnTo>
                <a:lnTo>
                  <a:pt x="3876811" y="2753995"/>
                </a:lnTo>
                <a:lnTo>
                  <a:pt x="3876811" y="3115353"/>
                </a:lnTo>
                <a:lnTo>
                  <a:pt x="3876811" y="3390879"/>
                </a:lnTo>
                <a:cubicBezTo>
                  <a:pt x="3876811" y="3948571"/>
                  <a:pt x="3718588" y="4227713"/>
                  <a:pt x="3370493" y="4471114"/>
                </a:cubicBezTo>
                <a:cubicBezTo>
                  <a:pt x="3008484" y="4680847"/>
                  <a:pt x="2533312" y="4770605"/>
                  <a:pt x="2111639" y="5096465"/>
                </a:cubicBezTo>
                <a:lnTo>
                  <a:pt x="1935228" y="5245563"/>
                </a:lnTo>
                <a:lnTo>
                  <a:pt x="1765171" y="5096465"/>
                </a:lnTo>
                <a:cubicBezTo>
                  <a:pt x="1343496" y="4770605"/>
                  <a:pt x="868325" y="4680847"/>
                  <a:pt x="506317" y="4471114"/>
                </a:cubicBezTo>
                <a:cubicBezTo>
                  <a:pt x="158223" y="4227713"/>
                  <a:pt x="0" y="3948571"/>
                  <a:pt x="0" y="3390879"/>
                </a:cubicBezTo>
                <a:lnTo>
                  <a:pt x="0" y="3115353"/>
                </a:lnTo>
                <a:lnTo>
                  <a:pt x="0" y="2753995"/>
                </a:lnTo>
                <a:lnTo>
                  <a:pt x="0" y="2491569"/>
                </a:lnTo>
                <a:lnTo>
                  <a:pt x="0" y="2019920"/>
                </a:lnTo>
                <a:lnTo>
                  <a:pt x="0" y="1854684"/>
                </a:lnTo>
                <a:cubicBezTo>
                  <a:pt x="0" y="1296993"/>
                  <a:pt x="158224" y="1017851"/>
                  <a:pt x="506318" y="774451"/>
                </a:cubicBezTo>
                <a:cubicBezTo>
                  <a:pt x="868327" y="564716"/>
                  <a:pt x="1343498" y="474958"/>
                  <a:pt x="1765173" y="149097"/>
                </a:cubicBezTo>
                <a:close/>
              </a:path>
            </a:pathLst>
          </a:custGeom>
          <a:solidFill>
            <a:srgbClr val="0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CCDAD81-3258-13BC-5C66-9EF046532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1389" y="1826096"/>
            <a:ext cx="3149221" cy="2142699"/>
          </a:xfrm>
        </p:spPr>
        <p:txBody>
          <a:bodyPr anchor="b">
            <a:normAutofit/>
          </a:bodyPr>
          <a:lstStyle/>
          <a:p>
            <a:pPr algn="ctr"/>
            <a:r>
              <a:rPr lang="nl-NL" sz="4000">
                <a:solidFill>
                  <a:srgbClr val="FFFFFF"/>
                </a:solidFill>
              </a:rPr>
              <a:t>Personal finance advisor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3DADDBD-DB4C-694A-EE5B-423A3BAA1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513" y="4196605"/>
            <a:ext cx="2906973" cy="948601"/>
          </a:xfrm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nl-NL" sz="1700">
                <a:solidFill>
                  <a:srgbClr val="FFFFFF"/>
                </a:solidFill>
              </a:rPr>
              <a:t>ML-Powered Transaction Analysis 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2E3FD4C-DB09-84C2-5854-FAFE431E93D9}"/>
              </a:ext>
            </a:extLst>
          </p:cNvPr>
          <p:cNvSpPr/>
          <p:nvPr/>
        </p:nvSpPr>
        <p:spPr>
          <a:xfrm>
            <a:off x="-1" y="5544881"/>
            <a:ext cx="2654711" cy="13121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Jasper Croijmans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225394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Data </a:t>
            </a:r>
            <a:r>
              <a:rPr lang="nl-NL" dirty="0" err="1">
                <a:solidFill>
                  <a:schemeClr val="bg1"/>
                </a:solidFill>
              </a:rPr>
              <a:t>science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Ml minor</a:t>
            </a:r>
            <a:endParaRPr lang="nl-NL" dirty="0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DC1D7415-A690-0C4B-A07E-605544F91A90}"/>
              </a:ext>
            </a:extLst>
          </p:cNvPr>
          <p:cNvSpPr/>
          <p:nvPr/>
        </p:nvSpPr>
        <p:spPr>
          <a:xfrm>
            <a:off x="9753600" y="5968181"/>
            <a:ext cx="2074606" cy="698090"/>
          </a:xfrm>
          <a:prstGeom prst="ellipse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100" dirty="0">
                <a:hlinkClick r:id="rId3"/>
              </a:rPr>
              <a:t>https://github.com/JasperCroijmans/personal-finance-analyzer</a:t>
            </a:r>
            <a:r>
              <a:rPr lang="nl-NL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28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4">
            <a:extLst>
              <a:ext uri="{FF2B5EF4-FFF2-40B4-BE49-F238E27FC236}">
                <a16:creationId xmlns:a16="http://schemas.microsoft.com/office/drawing/2014/main" id="{1F72CB4B-A086-E546-83B0-DD8F40789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B97176-AC49-B79D-F055-3E4E5D073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960030"/>
            <a:ext cx="4470832" cy="1507398"/>
          </a:xfrm>
        </p:spPr>
        <p:txBody>
          <a:bodyPr anchor="ctr">
            <a:normAutofit/>
          </a:bodyPr>
          <a:lstStyle/>
          <a:p>
            <a:r>
              <a:rPr lang="nl-NL" dirty="0" err="1"/>
              <a:t>Problem</a:t>
            </a:r>
            <a:r>
              <a:rPr lang="nl-NL"/>
              <a:t>/Solution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8F14DB-CFBC-5A1D-8BEF-6B04F606A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069960"/>
            <a:ext cx="4470831" cy="3828010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</a:t>
            </a:r>
            <a:r>
              <a:rPr lang="nl-NL" sz="1400" dirty="0" err="1"/>
              <a:t>Problem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Manual tracking is time </a:t>
            </a:r>
            <a:r>
              <a:rPr lang="nl-NL" sz="1400" dirty="0" err="1"/>
              <a:t>consuming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No </a:t>
            </a:r>
            <a:r>
              <a:rPr lang="nl-NL" sz="1400" dirty="0" err="1"/>
              <a:t>insights</a:t>
            </a:r>
            <a:r>
              <a:rPr lang="nl-NL" sz="1400" dirty="0"/>
              <a:t> </a:t>
            </a:r>
            <a:r>
              <a:rPr lang="nl-NL" sz="1400" dirty="0" err="1"/>
              <a:t>into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  <a:r>
              <a:rPr lang="nl-NL" sz="1400" dirty="0" err="1"/>
              <a:t>patterns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 err="1"/>
              <a:t>Difficult</a:t>
            </a:r>
            <a:r>
              <a:rPr lang="nl-NL" sz="1400" dirty="0"/>
              <a:t> </a:t>
            </a:r>
            <a:r>
              <a:rPr lang="nl-NL" sz="1400" dirty="0" err="1"/>
              <a:t>to</a:t>
            </a:r>
            <a:r>
              <a:rPr lang="nl-NL" sz="1400" dirty="0"/>
              <a:t> spot </a:t>
            </a:r>
            <a:r>
              <a:rPr lang="nl-NL" sz="1400" dirty="0" err="1"/>
              <a:t>unusual</a:t>
            </a:r>
            <a:r>
              <a:rPr lang="nl-NL" sz="1400" dirty="0"/>
              <a:t> </a:t>
            </a:r>
            <a:r>
              <a:rPr lang="nl-NL" sz="1400" dirty="0" err="1"/>
              <a:t>expenses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Hard </a:t>
            </a:r>
            <a:r>
              <a:rPr lang="nl-NL" sz="1400" dirty="0" err="1"/>
              <a:t>to</a:t>
            </a:r>
            <a:r>
              <a:rPr lang="nl-NL" sz="1400" dirty="0"/>
              <a:t> </a:t>
            </a:r>
            <a:r>
              <a:rPr lang="nl-NL" sz="1400" dirty="0" err="1"/>
              <a:t>predict</a:t>
            </a:r>
            <a:r>
              <a:rPr lang="nl-NL" sz="1400" dirty="0"/>
              <a:t> </a:t>
            </a:r>
            <a:r>
              <a:rPr lang="nl-NL" sz="1400" dirty="0" err="1"/>
              <a:t>future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endParaRPr lang="nl-NL" sz="1400" dirty="0"/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Solution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 </a:t>
            </a:r>
            <a:r>
              <a:rPr lang="nl-NL" sz="1400" dirty="0" err="1"/>
              <a:t>Automated</a:t>
            </a:r>
            <a:r>
              <a:rPr lang="nl-NL" sz="1400" dirty="0"/>
              <a:t> ML-</a:t>
            </a:r>
            <a:r>
              <a:rPr lang="nl-NL" sz="1400" dirty="0" err="1"/>
              <a:t>powered</a:t>
            </a:r>
            <a:r>
              <a:rPr lang="nl-NL" sz="1400" dirty="0"/>
              <a:t> analyzer </a:t>
            </a:r>
            <a:r>
              <a:rPr lang="nl-NL" sz="1400" dirty="0" err="1"/>
              <a:t>that</a:t>
            </a:r>
            <a:r>
              <a:rPr lang="nl-NL" sz="1400" dirty="0"/>
              <a:t>: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Categorizes</a:t>
            </a:r>
            <a:r>
              <a:rPr lang="nl-NL" sz="1400" dirty="0"/>
              <a:t> 100% of transactions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Predicts</a:t>
            </a:r>
            <a:r>
              <a:rPr lang="nl-NL" sz="1400" dirty="0"/>
              <a:t> next </a:t>
            </a:r>
            <a:r>
              <a:rPr lang="nl-NL" sz="1400" dirty="0" err="1"/>
              <a:t>month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Detects</a:t>
            </a:r>
            <a:r>
              <a:rPr lang="nl-NL" sz="1400" dirty="0"/>
              <a:t> </a:t>
            </a:r>
            <a:r>
              <a:rPr lang="nl-NL" sz="1400" dirty="0" err="1"/>
              <a:t>anomalies</a:t>
            </a:r>
            <a:r>
              <a:rPr lang="nl-NL" sz="1400" dirty="0"/>
              <a:t> </a:t>
            </a:r>
            <a:r>
              <a:rPr lang="nl-NL" sz="1400" dirty="0" err="1"/>
              <a:t>automatically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Provides</a:t>
            </a:r>
            <a:r>
              <a:rPr lang="nl-NL" sz="1400" dirty="0"/>
              <a:t> </a:t>
            </a:r>
            <a:r>
              <a:rPr lang="nl-NL" sz="1400" dirty="0" err="1"/>
              <a:t>interactive</a:t>
            </a:r>
            <a:r>
              <a:rPr lang="nl-NL" sz="1400" dirty="0"/>
              <a:t> dashboards </a:t>
            </a:r>
          </a:p>
        </p:txBody>
      </p:sp>
      <p:cxnSp>
        <p:nvCxnSpPr>
          <p:cNvPr id="2060" name="Straight Connector 2056">
            <a:extLst>
              <a:ext uri="{FF2B5EF4-FFF2-40B4-BE49-F238E27FC236}">
                <a16:creationId xmlns:a16="http://schemas.microsoft.com/office/drawing/2014/main" id="{49151340-7EF2-0647-A719-394EFC3A1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874484"/>
            <a:ext cx="0" cy="3394558"/>
          </a:xfrm>
          <a:prstGeom prst="line">
            <a:avLst/>
          </a:prstGeom>
          <a:ln w="25400" cap="rnd">
            <a:solidFill>
              <a:schemeClr val="bg2">
                <a:lumMod val="75000"/>
                <a:alpha val="65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focus on solutions not problems (with Abraham-Hicks inspired tap  along). | The Thought Gardener">
            <a:extLst>
              <a:ext uri="{FF2B5EF4-FFF2-40B4-BE49-F238E27FC236}">
                <a16:creationId xmlns:a16="http://schemas.microsoft.com/office/drawing/2014/main" id="{85EB01C2-9B69-2B78-18A0-70CEE2AF6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68669" y="1004724"/>
            <a:ext cx="4848551" cy="484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33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83F87-726A-F84E-3C36-7B37D450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F0A68A-1D63-EC75-AC0D-C6F1E89CB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8"/>
            <a:ext cx="3329952" cy="2146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Dataset: </a:t>
            </a:r>
          </a:p>
          <a:p>
            <a:pPr marL="0" indent="0">
              <a:buNone/>
            </a:pPr>
            <a:r>
              <a:rPr lang="nl-NL" dirty="0"/>
              <a:t>• 1,638 transactions (1 </a:t>
            </a:r>
            <a:r>
              <a:rPr lang="nl-NL" dirty="0" err="1"/>
              <a:t>year</a:t>
            </a:r>
            <a:r>
              <a:rPr lang="nl-NL" dirty="0"/>
              <a:t>) </a:t>
            </a:r>
          </a:p>
          <a:p>
            <a:pPr marL="0" indent="0">
              <a:buNone/>
            </a:pPr>
            <a:r>
              <a:rPr lang="nl-NL" dirty="0"/>
              <a:t>• Rabobank CSV export </a:t>
            </a:r>
          </a:p>
          <a:p>
            <a:pPr marL="0" indent="0">
              <a:buNone/>
            </a:pPr>
            <a:r>
              <a:rPr lang="nl-NL" dirty="0"/>
              <a:t>• 30+ </a:t>
            </a:r>
            <a:r>
              <a:rPr lang="nl-NL" dirty="0" err="1"/>
              <a:t>engineered</a:t>
            </a:r>
            <a:r>
              <a:rPr lang="nl-NL" dirty="0"/>
              <a:t> features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FB25C94-E687-AC17-3887-E3630629E30C}"/>
              </a:ext>
            </a:extLst>
          </p:cNvPr>
          <p:cNvSpPr txBox="1"/>
          <p:nvPr/>
        </p:nvSpPr>
        <p:spPr>
          <a:xfrm>
            <a:off x="4611328" y="2340077"/>
            <a:ext cx="60566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ML </a:t>
            </a:r>
            <a:r>
              <a:rPr lang="nl-NL" dirty="0" err="1"/>
              <a:t>Models</a:t>
            </a:r>
            <a:r>
              <a:rPr lang="nl-NL" dirty="0"/>
              <a:t>:</a:t>
            </a:r>
          </a:p>
          <a:p>
            <a:r>
              <a:rPr lang="nl-NL" dirty="0"/>
              <a:t>• Random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Categorization</a:t>
            </a:r>
            <a:r>
              <a:rPr lang="nl-NL" dirty="0"/>
              <a:t> (72% </a:t>
            </a:r>
            <a:r>
              <a:rPr lang="nl-NL" dirty="0" err="1"/>
              <a:t>accuracy</a:t>
            </a:r>
            <a:r>
              <a:rPr lang="nl-NL" dirty="0"/>
              <a:t>, 82.6% </a:t>
            </a:r>
            <a:r>
              <a:rPr lang="nl-NL" dirty="0" err="1"/>
              <a:t>confidence</a:t>
            </a:r>
            <a:r>
              <a:rPr lang="nl-NL" dirty="0"/>
              <a:t>) </a:t>
            </a:r>
          </a:p>
          <a:p>
            <a:r>
              <a:rPr lang="nl-NL" dirty="0"/>
              <a:t>•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r>
              <a:rPr lang="nl-NL" dirty="0"/>
              <a:t> → </a:t>
            </a:r>
            <a:r>
              <a:rPr lang="nl-NL" dirty="0" err="1"/>
              <a:t>Predictions</a:t>
            </a:r>
            <a:r>
              <a:rPr lang="nl-NL" dirty="0"/>
              <a:t> (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category</a:t>
            </a:r>
            <a:r>
              <a:rPr lang="nl-NL" dirty="0"/>
              <a:t>)</a:t>
            </a:r>
          </a:p>
          <a:p>
            <a:r>
              <a:rPr lang="nl-NL" dirty="0"/>
              <a:t>(MAE: €81,01) </a:t>
            </a:r>
          </a:p>
          <a:p>
            <a:r>
              <a:rPr lang="nl-NL" dirty="0"/>
              <a:t>• </a:t>
            </a:r>
            <a:r>
              <a:rPr lang="nl-NL" dirty="0" err="1"/>
              <a:t>Isolation</a:t>
            </a:r>
            <a:r>
              <a:rPr lang="nl-NL" dirty="0"/>
              <a:t>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Anomalies</a:t>
            </a:r>
            <a:r>
              <a:rPr lang="nl-NL" dirty="0"/>
              <a:t> (76 </a:t>
            </a:r>
            <a:r>
              <a:rPr lang="nl-NL" dirty="0" err="1"/>
              <a:t>anomalies</a:t>
            </a:r>
            <a:r>
              <a:rPr lang="nl-NL" dirty="0"/>
              <a:t>, 5% of data)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BDA02DD0-0A5F-D331-CF27-677F6CCA8440}"/>
              </a:ext>
            </a:extLst>
          </p:cNvPr>
          <p:cNvSpPr txBox="1"/>
          <p:nvPr/>
        </p:nvSpPr>
        <p:spPr>
          <a:xfrm>
            <a:off x="966744" y="4834137"/>
            <a:ext cx="400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Tech Stack: </a:t>
            </a:r>
          </a:p>
          <a:p>
            <a:r>
              <a:rPr lang="en-US" dirty="0"/>
              <a:t>Python • scikit-learn • Power BI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339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B6A5F-56CE-AC64-980E-8CACF1E2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Feuture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BB0054-1054-9335-59CF-3F64F8D4F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4" y="2248257"/>
            <a:ext cx="5532379" cy="1645317"/>
          </a:xfrm>
        </p:spPr>
        <p:txBody>
          <a:bodyPr/>
          <a:lstStyle/>
          <a:p>
            <a:r>
              <a:rPr lang="nl-NL" b="1" dirty="0"/>
              <a:t>Primaire </a:t>
            </a:r>
            <a:r>
              <a:rPr lang="nl-NL" b="1" dirty="0" err="1"/>
              <a:t>feuture</a:t>
            </a:r>
            <a:r>
              <a:rPr lang="nl-NL" b="1" dirty="0"/>
              <a:t> is time (</a:t>
            </a:r>
            <a:r>
              <a:rPr lang="nl-NL" b="1" dirty="0" err="1"/>
              <a:t>month</a:t>
            </a:r>
            <a:r>
              <a:rPr lang="nl-NL" b="1" dirty="0"/>
              <a:t>)</a:t>
            </a:r>
          </a:p>
          <a:p>
            <a:r>
              <a:rPr lang="nl-NL" b="1" dirty="0" err="1"/>
              <a:t>Learns</a:t>
            </a:r>
            <a:r>
              <a:rPr lang="nl-NL" b="1" dirty="0"/>
              <a:t> </a:t>
            </a:r>
            <a:r>
              <a:rPr lang="nl-NL" b="1" dirty="0" err="1"/>
              <a:t>spending</a:t>
            </a:r>
            <a:r>
              <a:rPr lang="nl-NL" b="1" dirty="0"/>
              <a:t> over time per </a:t>
            </a:r>
            <a:r>
              <a:rPr lang="nl-NL" b="1" dirty="0" err="1"/>
              <a:t>category</a:t>
            </a:r>
            <a:endParaRPr lang="nl-NL" b="1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8D82EB-F253-CC9B-7EDE-C97C41B9F477}"/>
              </a:ext>
            </a:extLst>
          </p:cNvPr>
          <p:cNvSpPr txBox="1"/>
          <p:nvPr/>
        </p:nvSpPr>
        <p:spPr>
          <a:xfrm>
            <a:off x="884903" y="4041058"/>
            <a:ext cx="38050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the Model Does:</a:t>
            </a:r>
          </a:p>
          <a:p>
            <a:r>
              <a:rPr lang="en-US" b="1" dirty="0"/>
              <a:t>1. Aggregates</a:t>
            </a:r>
            <a:r>
              <a:rPr lang="en-US" dirty="0"/>
              <a:t> spending per month per category</a:t>
            </a:r>
          </a:p>
          <a:p>
            <a:r>
              <a:rPr lang="en-US" b="1" dirty="0"/>
              <a:t>2. Fits a line</a:t>
            </a:r>
            <a:r>
              <a:rPr lang="en-US" dirty="0"/>
              <a:t> through the data points (Linear Regression)</a:t>
            </a:r>
          </a:p>
          <a:p>
            <a:r>
              <a:rPr lang="en-US" b="1" dirty="0"/>
              <a:t>3. Extrapolates</a:t>
            </a:r>
            <a:r>
              <a:rPr lang="en-US" dirty="0"/>
              <a:t> the line to predict next month</a:t>
            </a:r>
          </a:p>
          <a:p>
            <a:endParaRPr lang="nl-NL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6653702-9EA8-C6AB-D770-B114DB647FDF}"/>
              </a:ext>
            </a:extLst>
          </p:cNvPr>
          <p:cNvSpPr txBox="1"/>
          <p:nvPr/>
        </p:nvSpPr>
        <p:spPr>
          <a:xfrm>
            <a:off x="5781368" y="4011561"/>
            <a:ext cx="44638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Why This Simple Approach? </a:t>
            </a:r>
          </a:p>
          <a:p>
            <a:r>
              <a:rPr lang="en-US" dirty="0"/>
              <a:t>✓ Works well for short-term (1 month) forecasts </a:t>
            </a:r>
          </a:p>
          <a:p>
            <a:r>
              <a:rPr lang="en-US" dirty="0"/>
              <a:t>✓ Easy to interpret clear trend line </a:t>
            </a:r>
          </a:p>
          <a:p>
            <a:r>
              <a:rPr lang="en-US" dirty="0"/>
              <a:t>✓ Fast to train - minimal computation </a:t>
            </a:r>
          </a:p>
          <a:p>
            <a:r>
              <a:rPr lang="en-US" dirty="0"/>
              <a:t>⚠️ Assumption: Spending behavior remains relatively stable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9935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022A87-A106-0DC1-4600-3E8E016DC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insights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A8A696-D4D6-6654-A034-B14668B31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467604" cy="3650155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nl-NL" dirty="0"/>
              <a:t>Financial Summary: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Income</a:t>
            </a:r>
            <a:r>
              <a:rPr lang="nl-NL" dirty="0"/>
              <a:t>: €29.751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Expenses</a:t>
            </a:r>
            <a:r>
              <a:rPr lang="nl-NL" dirty="0"/>
              <a:t>: €29.612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Net Cashflow: €139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</a:t>
            </a:r>
            <a:r>
              <a:rPr lang="nl-NL" dirty="0" err="1"/>
              <a:t>Current</a:t>
            </a:r>
            <a:r>
              <a:rPr lang="nl-NL" dirty="0"/>
              <a:t> Balance: €38,57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Dashboard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7C9ECEF-0A35-305F-7C04-71A915591B36}"/>
              </a:ext>
            </a:extLst>
          </p:cNvPr>
          <p:cNvSpPr txBox="1"/>
          <p:nvPr/>
        </p:nvSpPr>
        <p:spPr>
          <a:xfrm>
            <a:off x="4847303" y="2248257"/>
            <a:ext cx="38444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Top Findings: </a:t>
            </a:r>
          </a:p>
          <a:p>
            <a:r>
              <a:rPr lang="en-US" sz="2000" dirty="0"/>
              <a:t>✓ Supermarket = biggest category  </a:t>
            </a:r>
          </a:p>
          <a:p>
            <a:r>
              <a:rPr lang="en-US" sz="2000" dirty="0"/>
              <a:t>✓ 76 anomalies detected (5%) </a:t>
            </a:r>
          </a:p>
          <a:p>
            <a:r>
              <a:rPr lang="en-US" sz="2000" dirty="0"/>
              <a:t>✓ Predicted next month (December 2025): €2086</a:t>
            </a:r>
          </a:p>
          <a:p>
            <a:r>
              <a:rPr lang="en-US" sz="2000" dirty="0"/>
              <a:t>  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30542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F54CD-9153-FB0D-D8B7-378F29E0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Actual</a:t>
            </a:r>
            <a:r>
              <a:rPr lang="nl-NL" dirty="0"/>
              <a:t> </a:t>
            </a:r>
            <a:r>
              <a:rPr lang="nl-NL" dirty="0" err="1"/>
              <a:t>spending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3C2EBB-9C9C-7C93-7661-C9C0DE15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Actual spending: €2395 </a:t>
            </a:r>
          </a:p>
          <a:p>
            <a:endParaRPr lang="en-US" dirty="0"/>
          </a:p>
          <a:p>
            <a:r>
              <a:rPr lang="en-US" dirty="0"/>
              <a:t>Of by €309 </a:t>
            </a:r>
          </a:p>
          <a:p>
            <a:endParaRPr lang="en-US" dirty="0"/>
          </a:p>
          <a:p>
            <a:r>
              <a:rPr lang="en-US" dirty="0"/>
              <a:t>1 really big abnormal </a:t>
            </a:r>
            <a:r>
              <a:rPr lang="en-US" dirty="0" err="1"/>
              <a:t>expens</a:t>
            </a:r>
            <a:r>
              <a:rPr lang="en-US" dirty="0"/>
              <a:t> of €860 (hospital)</a:t>
            </a:r>
          </a:p>
          <a:p>
            <a:r>
              <a:rPr lang="en-US" dirty="0"/>
              <a:t>December no bars: €426 predicted saved</a:t>
            </a:r>
          </a:p>
          <a:p>
            <a:r>
              <a:rPr lang="en-US" dirty="0"/>
              <a:t>Hospital </a:t>
            </a:r>
            <a:r>
              <a:rPr lang="en-US" dirty="0" err="1"/>
              <a:t>expens</a:t>
            </a:r>
            <a:r>
              <a:rPr lang="en-US" dirty="0"/>
              <a:t> that was free: €200 (given price) saved</a:t>
            </a:r>
          </a:p>
          <a:p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D79B46F8-860A-57F5-E960-FA4885911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823"/>
              </p:ext>
            </p:extLst>
          </p:nvPr>
        </p:nvGraphicFramePr>
        <p:xfrm>
          <a:off x="5980176" y="1282184"/>
          <a:ext cx="460044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224">
                  <a:extLst>
                    <a:ext uri="{9D8B030D-6E8A-4147-A177-3AD203B41FA5}">
                      <a16:colId xmlns:a16="http://schemas.microsoft.com/office/drawing/2014/main" val="3670627041"/>
                    </a:ext>
                  </a:extLst>
                </a:gridCol>
                <a:gridCol w="2300224">
                  <a:extLst>
                    <a:ext uri="{9D8B030D-6E8A-4147-A177-3AD203B41FA5}">
                      <a16:colId xmlns:a16="http://schemas.microsoft.com/office/drawing/2014/main" val="1863378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596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Actual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amount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€2395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13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Big </a:t>
                      </a:r>
                      <a:r>
                        <a:rPr lang="nl-NL" dirty="0" err="1"/>
                        <a:t>expens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- €860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541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 bars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+€426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730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Hospital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bill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663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Spending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if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the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month</a:t>
                      </a:r>
                      <a:r>
                        <a:rPr lang="nl-NL" dirty="0"/>
                        <a:t> was 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€2161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37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Of </a:t>
                      </a:r>
                      <a:r>
                        <a:rPr lang="nl-NL" dirty="0" err="1"/>
                        <a:t>by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23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811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B7FDD-2815-60FC-9E62-D7645DC3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Impact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CB86EB4-A7FE-845A-FE43-A87B45FC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919888" cy="3650155"/>
          </a:xfrm>
        </p:spPr>
        <p:txBody>
          <a:bodyPr/>
          <a:lstStyle/>
          <a:p>
            <a:pPr marL="0" indent="0">
              <a:buNone/>
            </a:pPr>
            <a:r>
              <a:rPr lang="nl-NL" dirty="0" err="1">
                <a:solidFill>
                  <a:schemeClr val="tx1"/>
                </a:solidFill>
              </a:rPr>
              <a:t>Achievements</a:t>
            </a:r>
            <a:r>
              <a:rPr lang="nl-NL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100% </a:t>
            </a:r>
            <a:r>
              <a:rPr lang="nl-NL" dirty="0" err="1">
                <a:solidFill>
                  <a:schemeClr val="tx1"/>
                </a:solidFill>
              </a:rPr>
              <a:t>automated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categorization</a:t>
            </a:r>
            <a:r>
              <a:rPr lang="nl-NL" dirty="0">
                <a:solidFill>
                  <a:schemeClr val="tx1"/>
                </a:solidFill>
              </a:rPr>
              <a:t>     (96% </a:t>
            </a:r>
            <a:r>
              <a:rPr lang="nl-NL" dirty="0" err="1">
                <a:solidFill>
                  <a:schemeClr val="tx1"/>
                </a:solidFill>
              </a:rPr>
              <a:t>accuracy</a:t>
            </a:r>
            <a:r>
              <a:rPr lang="nl-NL" dirty="0">
                <a:solidFill>
                  <a:schemeClr val="tx1"/>
                </a:solidFill>
              </a:rPr>
              <a:t>)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Reliable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spending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predictions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Anomaly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detection</a:t>
            </a:r>
            <a:r>
              <a:rPr lang="nl-NL" dirty="0">
                <a:solidFill>
                  <a:schemeClr val="tx1"/>
                </a:solidFill>
              </a:rPr>
              <a:t> system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Professional </a:t>
            </a:r>
            <a:r>
              <a:rPr lang="nl-NL" dirty="0" err="1">
                <a:solidFill>
                  <a:schemeClr val="tx1"/>
                </a:solidFill>
              </a:rPr>
              <a:t>documentation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C10C986-7B7E-8473-8C7D-372C459AA95D}"/>
              </a:ext>
            </a:extLst>
          </p:cNvPr>
          <p:cNvSpPr txBox="1"/>
          <p:nvPr/>
        </p:nvSpPr>
        <p:spPr>
          <a:xfrm>
            <a:off x="5504908" y="2023864"/>
            <a:ext cx="3919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Business Value: </a:t>
            </a:r>
          </a:p>
          <a:p>
            <a:r>
              <a:rPr lang="en-US" sz="2000" dirty="0"/>
              <a:t>• Save 5+ hours/month tracking  </a:t>
            </a:r>
          </a:p>
          <a:p>
            <a:r>
              <a:rPr lang="en-US" sz="2000" dirty="0"/>
              <a:t>• Better spending awareness </a:t>
            </a:r>
          </a:p>
          <a:p>
            <a:r>
              <a:rPr lang="en-US" sz="2000" dirty="0"/>
              <a:t>• Early anomaly detection </a:t>
            </a:r>
          </a:p>
          <a:p>
            <a:r>
              <a:rPr lang="en-US" sz="2000" dirty="0"/>
              <a:t>• Data-driven budgeting</a:t>
            </a:r>
            <a:endParaRPr lang="nl-NL" sz="2000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F3617EEA-3981-D6B7-60A3-10D09FB1B168}"/>
              </a:ext>
            </a:extLst>
          </p:cNvPr>
          <p:cNvSpPr txBox="1"/>
          <p:nvPr/>
        </p:nvSpPr>
        <p:spPr>
          <a:xfrm>
            <a:off x="966744" y="5171768"/>
            <a:ext cx="3665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Future Improvements: </a:t>
            </a:r>
          </a:p>
          <a:p>
            <a:r>
              <a:rPr lang="en-US" sz="2000" dirty="0"/>
              <a:t>• Real-time API integration</a:t>
            </a:r>
          </a:p>
          <a:p>
            <a:r>
              <a:rPr lang="en-US" sz="2000" dirty="0"/>
              <a:t>• Mobile app</a:t>
            </a:r>
          </a:p>
          <a:p>
            <a:r>
              <a:rPr lang="en-US" sz="2000" dirty="0"/>
              <a:t>• Budget alerts</a:t>
            </a:r>
            <a:endParaRPr lang="nl-NL" sz="2000" dirty="0"/>
          </a:p>
        </p:txBody>
      </p:sp>
      <p:pic>
        <p:nvPicPr>
          <p:cNvPr id="3074" name="Picture 2" descr="Achievements - Apps op Google Play">
            <a:extLst>
              <a:ext uri="{FF2B5EF4-FFF2-40B4-BE49-F238E27FC236}">
                <a16:creationId xmlns:a16="http://schemas.microsoft.com/office/drawing/2014/main" id="{ED34247F-BD27-988C-CE8F-6EE19DD7A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231" y="0"/>
            <a:ext cx="1787769" cy="1787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1751195"/>
      </p:ext>
    </p:extLst>
  </p:cSld>
  <p:clrMapOvr>
    <a:masterClrMapping/>
  </p:clrMapOvr>
</p:sld>
</file>

<file path=ppt/theme/theme1.xml><?xml version="1.0" encoding="utf-8"?>
<a:theme xmlns:a="http://schemas.openxmlformats.org/drawingml/2006/main" name="MarrakeshVTI">
  <a:themeElements>
    <a:clrScheme name="Marrakesh">
      <a:dk1>
        <a:srgbClr val="000000"/>
      </a:dk1>
      <a:lt1>
        <a:srgbClr val="FFFFFF"/>
      </a:lt1>
      <a:dk2>
        <a:srgbClr val="431C30"/>
      </a:dk2>
      <a:lt2>
        <a:srgbClr val="F3F0EF"/>
      </a:lt2>
      <a:accent1>
        <a:srgbClr val="B35B55"/>
      </a:accent1>
      <a:accent2>
        <a:srgbClr val="CF7E6C"/>
      </a:accent2>
      <a:accent3>
        <a:srgbClr val="CA8F58"/>
      </a:accent3>
      <a:accent4>
        <a:srgbClr val="A97C54"/>
      </a:accent4>
      <a:accent5>
        <a:srgbClr val="917E45"/>
      </a:accent5>
      <a:accent6>
        <a:srgbClr val="647576"/>
      </a:accent6>
      <a:hlink>
        <a:srgbClr val="A25872"/>
      </a:hlink>
      <a:folHlink>
        <a:srgbClr val="667A7E"/>
      </a:folHlink>
    </a:clrScheme>
    <a:fontScheme name="Goudy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rakeshVTI" id="{DCD97A9B-DAE4-42FA-B2F9-0A5C34F43D6C}" vid="{A7163F41-974B-4A88-831F-D9DFFFE40CE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587</Words>
  <Application>Microsoft Office PowerPoint</Application>
  <PresentationFormat>Breedbeeld</PresentationFormat>
  <Paragraphs>101</Paragraphs>
  <Slides>7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Aptos</vt:lpstr>
      <vt:lpstr>Arial</vt:lpstr>
      <vt:lpstr>Goudy Old Style</vt:lpstr>
      <vt:lpstr>MarrakeshVTI</vt:lpstr>
      <vt:lpstr>Personal finance advisor</vt:lpstr>
      <vt:lpstr>Problem/Solution</vt:lpstr>
      <vt:lpstr>Data and Methodology</vt:lpstr>
      <vt:lpstr>Feuture for linear regression</vt:lpstr>
      <vt:lpstr>Key insights</vt:lpstr>
      <vt:lpstr>Actual spending</vt:lpstr>
      <vt:lpstr>Conclusion and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 croijmans</dc:creator>
  <cp:lastModifiedBy>Jasper croijmans</cp:lastModifiedBy>
  <cp:revision>3</cp:revision>
  <dcterms:created xsi:type="dcterms:W3CDTF">2026-01-06T14:23:10Z</dcterms:created>
  <dcterms:modified xsi:type="dcterms:W3CDTF">2026-01-15T13:09:00Z</dcterms:modified>
</cp:coreProperties>
</file>